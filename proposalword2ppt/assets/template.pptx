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icp" initials="d" lastIdx="0" clrIdx="0"/>
  <p:cmAuthor id="7" name="1206988966@qq.com" initials="1" lastIdx="1" clrIdx="2"/>
  <p:cmAuthor id="1" name="lenn" initials="l" lastIdx="1" clrIdx="0"/>
  <p:cmAuthor id="8" name="姜伟光" initials="姜" lastIdx="1" clrIdx="0"/>
  <p:cmAuthor id="2" name="jsc4" initials="j" lastIdx="1" clrIdx="1"/>
  <p:cmAuthor id="9" name="李 奇峰" initials="李" lastIdx="1" clrIdx="4"/>
  <p:cmAuthor id="3" name="gshen" initials="g" lastIdx="1" clrIdx="0"/>
  <p:cmAuthor id="10" name="xingkunwang@163.com" initials="x" lastIdx="1" clrIdx="5"/>
  <p:cmAuthor id="4" name="郭 宇" initials="郭" lastIdx="1" clrIdx="1"/>
  <p:cmAuthor id="5" name="李婉君" initials="李" lastIdx="2" clrIdx="3"/>
  <p:cmAuthor id="6" name="ming qiu" initials="m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B4B5"/>
    <a:srgbClr val="1D5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F36319-A508-4645-AF53-40313B4D1187}" v="31" dt="2026-09-13T10:14:35.3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248" autoAdjust="0"/>
  </p:normalViewPr>
  <p:slideViewPr>
    <p:cSldViewPr snapToGrid="0" snapToObjects="1">
      <p:cViewPr varScale="1">
        <p:scale>
          <a:sx n="87" d="100"/>
          <a:sy n="87" d="100"/>
        </p:scale>
        <p:origin x="13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961B3-5C65-0947-B17F-31775C1E2474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B12D4-758F-3D40-A381-BAA40B9EB3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dirty="0" err="1"/>
              <a:t>各位评审专家好，我是</a:t>
            </a:r>
            <a:r>
              <a:rPr lang="en-US" altLang="zh-CN" dirty="0" err="1"/>
              <a:t>xxx</a:t>
            </a:r>
            <a:r>
              <a:rPr lang="zh-CN" altLang="en-US" dirty="0"/>
              <a:t>单位的</a:t>
            </a:r>
            <a:r>
              <a:rPr lang="en-US" altLang="zh-CN" dirty="0" err="1"/>
              <a:t>xxx</a:t>
            </a:r>
            <a:r>
              <a:rPr dirty="0" err="1"/>
              <a:t>。今天汇报</a:t>
            </a:r>
            <a:r>
              <a:rPr lang="en-US" dirty="0" err="1"/>
              <a:t>xxx</a:t>
            </a:r>
            <a:r>
              <a:rPr lang="en-US" dirty="0"/>
              <a:t>(</a:t>
            </a:r>
            <a:r>
              <a:rPr lang="zh-CN" altLang="en-US" dirty="0"/>
              <a:t>项目题目</a:t>
            </a:r>
            <a:r>
              <a:rPr lang="en-US" dirty="0"/>
              <a:t>)</a:t>
            </a:r>
            <a:r>
              <a:rPr dirty="0"/>
              <a:t>，</a:t>
            </a:r>
            <a:r>
              <a:rPr dirty="0" err="1"/>
              <a:t>重点介绍问题、方案与考核安排</a:t>
            </a:r>
            <a:r>
              <a:rPr dirty="0"/>
              <a:t>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各位专家好，这一页汇报我们在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方向的积累。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年入职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，至今在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优化领域深耕十余年。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技术是我所的核心方向，作为重点研发方向，得到了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等多个重大专项的长期支持。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在学术成果方面，团队发表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相关高水平论文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篇，其中包括 CCF-A 类的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篇，CCF-B 类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篇。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在产业合作方面，我们与多家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厂商保持深度合作，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包括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xxx,xxx,xxx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，成果直接落地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能力方面，我们先后开发了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款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，覆盖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；设计并实现了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余个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方法，大幅提升了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优化能力。这里特别值得一提的，是我们与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协作开发的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，其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已超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从技术路线看，我们的工作经历了三个层次的演进：首先从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优化做起，覆盖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等多个方向；进而走向算法创新与通用化；再到当前的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，包括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综上，我们在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xxx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领域积累深厚、代表论文质量高、项目经验丰富，完全具备本课题的研制基础。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endParaRPr lang="zh-CN" altLang="en-US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tabLst/>
              <a:defRPr/>
            </a:pP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xxx</a:t>
            </a:r>
            <a:r>
              <a:rPr lang="zh-CN" altLang="zh-CN" dirty="0"/>
              <a:t>是支撑</a:t>
            </a:r>
            <a:r>
              <a:rPr lang="en-US" altLang="zh-CN" dirty="0"/>
              <a:t>xxx</a:t>
            </a:r>
            <a:r>
              <a:rPr lang="zh-CN" altLang="zh-CN" dirty="0"/>
              <a:t>的核心</a:t>
            </a:r>
            <a:r>
              <a:rPr lang="en-US" altLang="zh-CN" dirty="0"/>
              <a:t>xxx</a:t>
            </a:r>
            <a:r>
              <a:rPr lang="zh-CN" altLang="zh-CN" dirty="0"/>
              <a:t>，主要包含</a:t>
            </a:r>
            <a:r>
              <a:rPr lang="en-US" altLang="zh-CN" dirty="0"/>
              <a:t>xxx1</a:t>
            </a:r>
            <a:r>
              <a:rPr lang="zh-CN" altLang="zh-CN" dirty="0"/>
              <a:t>与</a:t>
            </a:r>
            <a:r>
              <a:rPr lang="en-US" altLang="zh-CN" dirty="0"/>
              <a:t>xxx2</a:t>
            </a:r>
            <a:r>
              <a:rPr lang="zh-CN" altLang="zh-CN" dirty="0"/>
              <a:t>两大部件。</a:t>
            </a:r>
            <a:r>
              <a:rPr lang="en-US" altLang="zh-CN" dirty="0"/>
              <a:t>xxx1</a:t>
            </a:r>
            <a:r>
              <a:rPr lang="zh-CN" altLang="zh-CN" dirty="0"/>
              <a:t>负责</a:t>
            </a:r>
            <a:r>
              <a:rPr lang="en-US" altLang="zh-CN" dirty="0"/>
              <a:t>xxx</a:t>
            </a:r>
            <a:r>
              <a:rPr lang="zh-CN" altLang="zh-CN" dirty="0"/>
              <a:t>；</a:t>
            </a:r>
            <a:r>
              <a:rPr lang="en-US" altLang="zh-CN" dirty="0"/>
              <a:t>xxx2</a:t>
            </a:r>
            <a:r>
              <a:rPr lang="zh-CN" altLang="zh-CN" dirty="0"/>
              <a:t>承担</a:t>
            </a:r>
            <a:r>
              <a:rPr lang="en-US" altLang="zh-CN" dirty="0"/>
              <a:t>xxx</a:t>
            </a:r>
            <a:r>
              <a:rPr lang="zh-CN" altLang="zh-CN" dirty="0"/>
              <a:t>、</a:t>
            </a:r>
            <a:r>
              <a:rPr lang="en-US" altLang="zh-CN" dirty="0"/>
              <a:t>xxx</a:t>
            </a:r>
            <a:r>
              <a:rPr lang="zh-CN" altLang="zh-CN" dirty="0"/>
              <a:t>，</a:t>
            </a:r>
            <a:r>
              <a:rPr lang="en-US" altLang="zh-CN" dirty="0"/>
              <a:t>xxx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但现有</a:t>
            </a:r>
            <a:r>
              <a:rPr lang="en-US" altLang="zh-CN" dirty="0"/>
              <a:t>xxx(</a:t>
            </a:r>
            <a:r>
              <a:rPr lang="zh-CN" altLang="en-US" dirty="0"/>
              <a:t>存在不足</a:t>
            </a:r>
            <a:r>
              <a:rPr lang="en-US" altLang="zh-CN" dirty="0"/>
              <a:t>)</a:t>
            </a:r>
            <a:r>
              <a:rPr lang="zh-CN" altLang="zh-CN" dirty="0"/>
              <a:t> 。从</a:t>
            </a:r>
            <a:r>
              <a:rPr lang="en-US" altLang="zh-CN" dirty="0"/>
              <a:t>xxx</a:t>
            </a:r>
            <a:r>
              <a:rPr lang="zh-CN" altLang="zh-CN" dirty="0"/>
              <a:t>对比来看，</a:t>
            </a:r>
            <a:r>
              <a:rPr lang="en-US" altLang="zh-CN" dirty="0"/>
              <a:t>xxx(</a:t>
            </a:r>
            <a:r>
              <a:rPr lang="zh-CN" altLang="en-US" dirty="0"/>
              <a:t>描述新目标特性导致带来新的工作</a:t>
            </a:r>
            <a:r>
              <a:rPr lang="en-US" altLang="zh-CN" dirty="0"/>
              <a:t>)</a:t>
            </a:r>
            <a:r>
              <a:rPr lang="zh-CN" altLang="zh-CN" dirty="0"/>
              <a:t> </a:t>
            </a:r>
            <a:r>
              <a:rPr lang="en-US" altLang="zh-CN" dirty="0"/>
              <a:t>xxx</a:t>
            </a:r>
            <a:r>
              <a:rPr lang="zh-CN" altLang="zh-CN" dirty="0"/>
              <a:t>差异显著。</a:t>
            </a:r>
          </a:p>
          <a:p>
            <a:r>
              <a:rPr lang="zh-CN" altLang="zh-CN" dirty="0"/>
              <a:t>当前</a:t>
            </a:r>
            <a:r>
              <a:rPr lang="en-US" altLang="zh-CN" dirty="0"/>
              <a:t>xxx1</a:t>
            </a:r>
            <a:r>
              <a:rPr lang="zh-CN" altLang="zh-CN" dirty="0"/>
              <a:t>在</a:t>
            </a:r>
            <a:r>
              <a:rPr lang="en-US" altLang="zh-CN" dirty="0"/>
              <a:t>xxx</a:t>
            </a:r>
            <a:r>
              <a:rPr lang="zh-CN" altLang="zh-CN" dirty="0"/>
              <a:t>、</a:t>
            </a:r>
            <a:r>
              <a:rPr lang="en-US" altLang="zh-CN" dirty="0"/>
              <a:t>xxx</a:t>
            </a:r>
            <a:r>
              <a:rPr lang="zh-CN" altLang="zh-CN" dirty="0"/>
              <a:t>、</a:t>
            </a:r>
            <a:r>
              <a:rPr lang="en-US" altLang="zh-CN" dirty="0"/>
              <a:t>xxx</a:t>
            </a:r>
            <a:r>
              <a:rPr lang="zh-CN" altLang="zh-CN" dirty="0"/>
              <a:t>上存在系统性不足，难以</a:t>
            </a:r>
            <a:r>
              <a:rPr lang="en-US" altLang="zh-CN" dirty="0"/>
              <a:t>xxx</a:t>
            </a:r>
            <a:r>
              <a:rPr lang="zh-CN" altLang="zh-CN" dirty="0"/>
              <a:t>；</a:t>
            </a:r>
            <a:r>
              <a:rPr lang="en-US" altLang="zh-CN" dirty="0"/>
              <a:t>xxx2</a:t>
            </a:r>
            <a:r>
              <a:rPr lang="zh-CN" altLang="zh-CN" dirty="0"/>
              <a:t>沿</a:t>
            </a:r>
            <a:r>
              <a:rPr lang="en-US" altLang="zh-CN" dirty="0"/>
              <a:t>xxx</a:t>
            </a:r>
            <a:r>
              <a:rPr lang="zh-CN" altLang="zh-CN" dirty="0"/>
              <a:t>，缺</a:t>
            </a:r>
            <a:r>
              <a:rPr lang="en-US" altLang="zh-CN" dirty="0"/>
              <a:t>xx</a:t>
            </a:r>
            <a:r>
              <a:rPr lang="zh-CN" altLang="zh-CN" dirty="0"/>
              <a:t>、</a:t>
            </a:r>
            <a:r>
              <a:rPr lang="en-US" altLang="zh-CN" dirty="0"/>
              <a:t>xxx</a:t>
            </a:r>
            <a:r>
              <a:rPr lang="zh-CN" altLang="zh-CN" dirty="0"/>
              <a:t>等原生能力，这正是本项目要突破的核心方向。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dirty="0"/>
              <a:t>本项目的核心目标是</a:t>
            </a:r>
            <a:r>
              <a:rPr lang="en-US" altLang="zh-CN" dirty="0"/>
              <a:t>xxx</a:t>
            </a:r>
            <a:r>
              <a:rPr lang="zh-CN" altLang="zh-CN" dirty="0"/>
              <a:t>，</a:t>
            </a:r>
            <a:r>
              <a:rPr lang="en-US" altLang="zh-CN" dirty="0"/>
              <a:t>xxx</a:t>
            </a:r>
            <a:r>
              <a:rPr lang="zh-CN" altLang="zh-CN" dirty="0"/>
              <a:t>，</a:t>
            </a:r>
            <a:r>
              <a:rPr lang="en-US" altLang="zh-CN" dirty="0"/>
              <a:t>xxx(</a:t>
            </a:r>
            <a:r>
              <a:rPr lang="zh-CN" altLang="en-US" dirty="0"/>
              <a:t>意义</a:t>
            </a:r>
            <a:r>
              <a:rPr lang="en-US" altLang="zh-CN" dirty="0"/>
              <a:t>)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我们围绕</a:t>
            </a:r>
            <a:r>
              <a:rPr lang="en-US" altLang="zh-CN" dirty="0"/>
              <a:t>xx</a:t>
            </a:r>
            <a:r>
              <a:rPr lang="zh-CN" altLang="zh-CN" dirty="0"/>
              <a:t>大核心方向开展研究。第一是</a:t>
            </a:r>
            <a:r>
              <a:rPr lang="en-US" altLang="zh-CN" dirty="0"/>
              <a:t>xxx</a:t>
            </a:r>
            <a:r>
              <a:rPr lang="zh-CN" altLang="zh-CN" dirty="0"/>
              <a:t>方法：提出</a:t>
            </a:r>
            <a:r>
              <a:rPr lang="en-US" altLang="zh-CN" dirty="0"/>
              <a:t>xxx</a:t>
            </a:r>
            <a:r>
              <a:rPr lang="zh-CN" altLang="zh-CN" dirty="0"/>
              <a:t>，建立</a:t>
            </a:r>
            <a:r>
              <a:rPr lang="en-US" altLang="zh-CN" dirty="0"/>
              <a:t>xxx</a:t>
            </a:r>
            <a:r>
              <a:rPr lang="zh-CN" altLang="zh-CN" dirty="0"/>
              <a:t>，设计</a:t>
            </a:r>
            <a:r>
              <a:rPr lang="en-US" altLang="zh-CN" dirty="0"/>
              <a:t>xxx</a:t>
            </a:r>
            <a:r>
              <a:rPr lang="zh-CN" altLang="zh-CN" dirty="0"/>
              <a:t>等优化手段。</a:t>
            </a:r>
          </a:p>
          <a:p>
            <a:r>
              <a:rPr lang="zh-CN" altLang="zh-CN" dirty="0"/>
              <a:t>第二是</a:t>
            </a:r>
            <a:r>
              <a:rPr lang="en-US" altLang="zh-CN" dirty="0"/>
              <a:t>xxx</a:t>
            </a:r>
            <a:r>
              <a:rPr lang="zh-CN" altLang="zh-CN" dirty="0"/>
              <a:t>：基于</a:t>
            </a:r>
            <a:r>
              <a:rPr lang="en-US" altLang="zh-CN" dirty="0"/>
              <a:t>xxx</a:t>
            </a:r>
            <a:r>
              <a:rPr lang="zh-CN" altLang="zh-CN" dirty="0"/>
              <a:t>实现</a:t>
            </a:r>
            <a:r>
              <a:rPr lang="en-US" altLang="zh-CN" dirty="0"/>
              <a:t>xxx</a:t>
            </a:r>
            <a:r>
              <a:rPr lang="zh-CN" altLang="zh-CN" dirty="0"/>
              <a:t>，设计</a:t>
            </a:r>
            <a:r>
              <a:rPr lang="en-US" altLang="zh-CN" dirty="0"/>
              <a:t>xxx</a:t>
            </a:r>
            <a:r>
              <a:rPr lang="zh-CN" altLang="zh-CN" dirty="0"/>
              <a:t>方法，构建</a:t>
            </a:r>
            <a:r>
              <a:rPr lang="en-US" altLang="zh-CN" dirty="0"/>
              <a:t>xxx</a:t>
            </a:r>
            <a:r>
              <a:rPr lang="zh-CN" altLang="zh-CN" dirty="0"/>
              <a:t>，</a:t>
            </a:r>
            <a:r>
              <a:rPr lang="en-US" altLang="zh-CN" dirty="0"/>
              <a:t>xxx</a:t>
            </a:r>
            <a:r>
              <a:rPr lang="zh-CN" altLang="zh-CN" dirty="0"/>
              <a:t>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dirty="0"/>
              <a:t>研究内容一：</a:t>
            </a:r>
            <a:r>
              <a:rPr lang="en-US" altLang="zh-CN" dirty="0"/>
              <a:t>xxx</a:t>
            </a:r>
            <a:r>
              <a:rPr lang="zh-CN" altLang="zh-CN" dirty="0"/>
              <a:t>。我们面向</a:t>
            </a:r>
            <a:r>
              <a:rPr lang="en-US" altLang="zh-CN" dirty="0"/>
              <a:t>xxx</a:t>
            </a:r>
            <a:r>
              <a:rPr lang="zh-CN" altLang="zh-CN" dirty="0"/>
              <a:t>特性原生设计</a:t>
            </a:r>
            <a:r>
              <a:rPr lang="en-US" altLang="zh-CN" dirty="0"/>
              <a:t>xxx</a:t>
            </a:r>
            <a:r>
              <a:rPr lang="zh-CN" altLang="zh-CN" dirty="0"/>
              <a:t>体系，形成</a:t>
            </a:r>
            <a:r>
              <a:rPr lang="en-US" altLang="zh-CN" dirty="0"/>
              <a:t>xxx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在</a:t>
            </a:r>
            <a:r>
              <a:rPr lang="en-US" altLang="zh-CN" dirty="0"/>
              <a:t>xxx</a:t>
            </a:r>
            <a:r>
              <a:rPr lang="zh-CN" altLang="zh-CN" dirty="0"/>
              <a:t>层面，它是</a:t>
            </a:r>
            <a:r>
              <a:rPr lang="en-US" altLang="zh-CN" dirty="0"/>
              <a:t>xxx</a:t>
            </a:r>
            <a:r>
              <a:rPr lang="zh-CN" altLang="zh-CN" dirty="0"/>
              <a:t>基础。传统</a:t>
            </a:r>
            <a:r>
              <a:rPr lang="en-US" altLang="zh-CN" dirty="0"/>
              <a:t>xxx</a:t>
            </a:r>
            <a:r>
              <a:rPr lang="zh-CN" altLang="zh-CN" dirty="0"/>
              <a:t>未充分考虑</a:t>
            </a:r>
            <a:r>
              <a:rPr lang="en-US" altLang="zh-CN" dirty="0"/>
              <a:t>xxx</a:t>
            </a:r>
            <a:r>
              <a:rPr lang="zh-CN" altLang="zh-CN" dirty="0"/>
              <a:t>特性，我们设计</a:t>
            </a:r>
            <a:r>
              <a:rPr lang="en-US" altLang="zh-CN" dirty="0"/>
              <a:t>xxx</a:t>
            </a:r>
            <a:r>
              <a:rPr lang="zh-CN" altLang="zh-CN" dirty="0"/>
              <a:t>，</a:t>
            </a:r>
            <a:r>
              <a:rPr lang="en-US" altLang="zh-CN" dirty="0"/>
              <a:t>xx</a:t>
            </a:r>
            <a:r>
              <a:rPr lang="zh-CN" altLang="zh-CN" dirty="0"/>
              <a:t>、</a:t>
            </a:r>
            <a:r>
              <a:rPr lang="en-US" altLang="zh-CN" dirty="0"/>
              <a:t>xxx</a:t>
            </a:r>
            <a:r>
              <a:rPr lang="zh-CN" altLang="zh-CN" dirty="0"/>
              <a:t>义，</a:t>
            </a:r>
            <a:r>
              <a:rPr lang="zh-CN" altLang="en-US" dirty="0"/>
              <a:t>突破</a:t>
            </a:r>
            <a:r>
              <a:rPr lang="en-US" altLang="zh-CN" dirty="0"/>
              <a:t>xxx</a:t>
            </a:r>
            <a:r>
              <a:rPr lang="zh-CN" altLang="zh-CN" dirty="0"/>
              <a:t>局限。</a:t>
            </a:r>
          </a:p>
          <a:p>
            <a:r>
              <a:rPr lang="zh-CN" altLang="zh-CN" dirty="0"/>
              <a:t>在</a:t>
            </a:r>
            <a:r>
              <a:rPr lang="en-US" altLang="zh-CN" dirty="0"/>
              <a:t>xxx</a:t>
            </a:r>
            <a:r>
              <a:rPr lang="zh-CN" altLang="zh-CN" dirty="0"/>
              <a:t>层面，它是</a:t>
            </a:r>
            <a:r>
              <a:rPr lang="en-US" altLang="zh-CN" dirty="0"/>
              <a:t>xxx</a:t>
            </a:r>
            <a:r>
              <a:rPr lang="zh-CN" altLang="zh-CN" dirty="0"/>
              <a:t>的核心依据。传统</a:t>
            </a:r>
            <a:r>
              <a:rPr lang="en-US" altLang="zh-CN" dirty="0"/>
              <a:t>xxx</a:t>
            </a:r>
            <a:r>
              <a:rPr lang="zh-CN" altLang="zh-CN" dirty="0"/>
              <a:t>未综合考量</a:t>
            </a:r>
            <a:r>
              <a:rPr lang="en-US" altLang="zh-CN" dirty="0"/>
              <a:t>xxx</a:t>
            </a:r>
            <a:r>
              <a:rPr lang="zh-CN" altLang="zh-CN" dirty="0"/>
              <a:t>，我们设计</a:t>
            </a:r>
            <a:r>
              <a:rPr lang="en-US" altLang="zh-CN" dirty="0"/>
              <a:t>xxx</a:t>
            </a:r>
            <a:r>
              <a:rPr lang="zh-CN" altLang="zh-CN" dirty="0"/>
              <a:t>，为</a:t>
            </a:r>
            <a:r>
              <a:rPr lang="en-US" altLang="zh-CN" dirty="0"/>
              <a:t>xxx</a:t>
            </a:r>
            <a:r>
              <a:rPr lang="zh-CN" altLang="en-US" dirty="0"/>
              <a:t>优化</a:t>
            </a:r>
            <a:r>
              <a:rPr lang="zh-CN" altLang="zh-CN" dirty="0"/>
              <a:t>决策提供量化支撑。</a:t>
            </a:r>
          </a:p>
          <a:p>
            <a:r>
              <a:rPr lang="zh-CN" altLang="zh-CN" dirty="0"/>
              <a:t>在</a:t>
            </a:r>
            <a:r>
              <a:rPr lang="en-US" altLang="zh-CN" dirty="0"/>
              <a:t>xxx</a:t>
            </a:r>
            <a:r>
              <a:rPr lang="zh-CN" altLang="zh-CN" dirty="0"/>
              <a:t>层面，它是</a:t>
            </a:r>
            <a:r>
              <a:rPr lang="en-US" altLang="zh-CN" dirty="0"/>
              <a:t>xxx</a:t>
            </a:r>
            <a:r>
              <a:rPr lang="zh-CN" altLang="zh-CN" dirty="0"/>
              <a:t>的关键手段。传统方案未开展</a:t>
            </a:r>
            <a:r>
              <a:rPr lang="en-US" altLang="zh-CN" dirty="0"/>
              <a:t>xxx</a:t>
            </a:r>
            <a:r>
              <a:rPr lang="zh-CN" altLang="zh-CN" dirty="0"/>
              <a:t>特性优化，我们设计</a:t>
            </a:r>
            <a:r>
              <a:rPr lang="en-US" altLang="zh-CN" dirty="0"/>
              <a:t>xxx</a:t>
            </a:r>
            <a:r>
              <a:rPr lang="zh-CN" altLang="zh-CN" dirty="0"/>
              <a:t>方法，覆盖</a:t>
            </a:r>
            <a:r>
              <a:rPr lang="en-US" altLang="zh-CN" dirty="0"/>
              <a:t>xxx</a:t>
            </a:r>
            <a:r>
              <a:rPr lang="zh-CN" altLang="zh-CN" dirty="0"/>
              <a:t>、</a:t>
            </a:r>
            <a:r>
              <a:rPr lang="en-US" altLang="zh-CN" dirty="0"/>
              <a:t>xxx</a:t>
            </a:r>
            <a:r>
              <a:rPr lang="zh-CN" altLang="zh-CN" dirty="0"/>
              <a:t>、</a:t>
            </a:r>
            <a:r>
              <a:rPr lang="en-US" altLang="zh-CN" dirty="0"/>
              <a:t>xxx</a:t>
            </a:r>
            <a:r>
              <a:rPr lang="zh-CN" altLang="zh-CN" dirty="0"/>
              <a:t>等，有效降低</a:t>
            </a:r>
            <a:r>
              <a:rPr lang="en-US" altLang="zh-CN" dirty="0"/>
              <a:t>xxx</a:t>
            </a:r>
            <a:r>
              <a:rPr lang="zh-CN" altLang="zh-CN" dirty="0"/>
              <a:t>，提升</a:t>
            </a:r>
            <a:r>
              <a:rPr lang="en-US" altLang="zh-CN" dirty="0"/>
              <a:t>xxx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dirty="0"/>
              <a:t>研究内容</a:t>
            </a:r>
            <a:r>
              <a:rPr lang="zh-CN" altLang="en-US" dirty="0"/>
              <a:t>二</a:t>
            </a:r>
            <a:r>
              <a:rPr lang="zh-CN" altLang="zh-CN" dirty="0"/>
              <a:t>：</a:t>
            </a:r>
            <a:r>
              <a:rPr lang="en-US" altLang="zh-CN" dirty="0"/>
              <a:t>xxx</a:t>
            </a:r>
            <a:r>
              <a:rPr lang="zh-CN" altLang="zh-CN" dirty="0"/>
              <a:t>。我们面向</a:t>
            </a:r>
            <a:r>
              <a:rPr lang="en-US" altLang="zh-CN" dirty="0"/>
              <a:t>xxx</a:t>
            </a:r>
            <a:r>
              <a:rPr lang="zh-CN" altLang="zh-CN" dirty="0"/>
              <a:t>特性原生设计</a:t>
            </a:r>
            <a:r>
              <a:rPr lang="en-US" altLang="zh-CN" dirty="0"/>
              <a:t>xxx</a:t>
            </a:r>
            <a:r>
              <a:rPr lang="zh-CN" altLang="zh-CN" dirty="0"/>
              <a:t>体系，形成</a:t>
            </a:r>
            <a:r>
              <a:rPr lang="en-US" altLang="zh-CN" dirty="0"/>
              <a:t>xxx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在</a:t>
            </a:r>
            <a:r>
              <a:rPr lang="en-US" altLang="zh-CN" dirty="0"/>
              <a:t>xxx</a:t>
            </a:r>
            <a:r>
              <a:rPr lang="zh-CN" altLang="zh-CN" dirty="0"/>
              <a:t>层面，它是</a:t>
            </a:r>
            <a:r>
              <a:rPr lang="en-US" altLang="zh-CN" dirty="0"/>
              <a:t>xxx</a:t>
            </a:r>
            <a:r>
              <a:rPr lang="zh-CN" altLang="zh-CN" dirty="0"/>
              <a:t>基础。传统</a:t>
            </a:r>
            <a:r>
              <a:rPr lang="en-US" altLang="zh-CN" dirty="0"/>
              <a:t>xxx</a:t>
            </a:r>
            <a:r>
              <a:rPr lang="zh-CN" altLang="zh-CN" dirty="0"/>
              <a:t>未充分考虑</a:t>
            </a:r>
            <a:r>
              <a:rPr lang="en-US" altLang="zh-CN" dirty="0"/>
              <a:t>xxx</a:t>
            </a:r>
            <a:r>
              <a:rPr lang="zh-CN" altLang="zh-CN" dirty="0"/>
              <a:t>特性，我们设计</a:t>
            </a:r>
            <a:r>
              <a:rPr lang="en-US" altLang="zh-CN" dirty="0"/>
              <a:t>xxx</a:t>
            </a:r>
            <a:r>
              <a:rPr lang="zh-CN" altLang="zh-CN" dirty="0"/>
              <a:t>，</a:t>
            </a:r>
            <a:r>
              <a:rPr lang="en-US" altLang="zh-CN" dirty="0"/>
              <a:t>xx</a:t>
            </a:r>
            <a:r>
              <a:rPr lang="zh-CN" altLang="zh-CN" dirty="0"/>
              <a:t>、</a:t>
            </a:r>
            <a:r>
              <a:rPr lang="en-US" altLang="zh-CN" dirty="0"/>
              <a:t>xxx</a:t>
            </a:r>
            <a:r>
              <a:rPr lang="zh-CN" altLang="zh-CN" dirty="0"/>
              <a:t>义，</a:t>
            </a:r>
            <a:r>
              <a:rPr lang="zh-CN" altLang="en-US" dirty="0"/>
              <a:t>突破</a:t>
            </a:r>
            <a:r>
              <a:rPr lang="en-US" altLang="zh-CN" dirty="0"/>
              <a:t>xxx</a:t>
            </a:r>
            <a:r>
              <a:rPr lang="zh-CN" altLang="zh-CN" dirty="0"/>
              <a:t>局限。</a:t>
            </a:r>
          </a:p>
          <a:p>
            <a:r>
              <a:rPr lang="zh-CN" altLang="zh-CN" dirty="0"/>
              <a:t>在</a:t>
            </a:r>
            <a:r>
              <a:rPr lang="en-US" altLang="zh-CN" dirty="0"/>
              <a:t>xxx</a:t>
            </a:r>
            <a:r>
              <a:rPr lang="zh-CN" altLang="zh-CN" dirty="0"/>
              <a:t>层面，它是</a:t>
            </a:r>
            <a:r>
              <a:rPr lang="en-US" altLang="zh-CN" dirty="0"/>
              <a:t>xxx</a:t>
            </a:r>
            <a:r>
              <a:rPr lang="zh-CN" altLang="zh-CN" dirty="0"/>
              <a:t>的核心依据。传统</a:t>
            </a:r>
            <a:r>
              <a:rPr lang="en-US" altLang="zh-CN" dirty="0"/>
              <a:t>xxx</a:t>
            </a:r>
            <a:r>
              <a:rPr lang="zh-CN" altLang="zh-CN" dirty="0"/>
              <a:t>未综合考量</a:t>
            </a:r>
            <a:r>
              <a:rPr lang="en-US" altLang="zh-CN" dirty="0"/>
              <a:t>xxx</a:t>
            </a:r>
            <a:r>
              <a:rPr lang="zh-CN" altLang="zh-CN" dirty="0"/>
              <a:t>，我们设计</a:t>
            </a:r>
            <a:r>
              <a:rPr lang="en-US" altLang="zh-CN" dirty="0"/>
              <a:t>xxx</a:t>
            </a:r>
            <a:r>
              <a:rPr lang="zh-CN" altLang="zh-CN" dirty="0"/>
              <a:t>，为</a:t>
            </a:r>
            <a:r>
              <a:rPr lang="en-US" altLang="zh-CN" dirty="0"/>
              <a:t>xxx</a:t>
            </a:r>
            <a:r>
              <a:rPr lang="zh-CN" altLang="en-US" dirty="0"/>
              <a:t>优化</a:t>
            </a:r>
            <a:r>
              <a:rPr lang="zh-CN" altLang="zh-CN" dirty="0"/>
              <a:t>决策提供量化支撑。</a:t>
            </a:r>
          </a:p>
          <a:p>
            <a:r>
              <a:rPr lang="zh-CN" altLang="zh-CN" dirty="0"/>
              <a:t>在</a:t>
            </a:r>
            <a:r>
              <a:rPr lang="en-US" altLang="zh-CN" dirty="0"/>
              <a:t>xxx</a:t>
            </a:r>
            <a:r>
              <a:rPr lang="zh-CN" altLang="zh-CN" dirty="0"/>
              <a:t>层面，它是</a:t>
            </a:r>
            <a:r>
              <a:rPr lang="en-US" altLang="zh-CN" dirty="0"/>
              <a:t>xxx</a:t>
            </a:r>
            <a:r>
              <a:rPr lang="zh-CN" altLang="zh-CN" dirty="0"/>
              <a:t>的关键手段。传统方案未开展</a:t>
            </a:r>
            <a:r>
              <a:rPr lang="en-US" altLang="zh-CN" dirty="0"/>
              <a:t>xxx</a:t>
            </a:r>
            <a:r>
              <a:rPr lang="zh-CN" altLang="zh-CN" dirty="0"/>
              <a:t>特性优化，我们设计</a:t>
            </a:r>
            <a:r>
              <a:rPr lang="en-US" altLang="zh-CN" dirty="0"/>
              <a:t>xxx</a:t>
            </a:r>
            <a:r>
              <a:rPr lang="zh-CN" altLang="zh-CN" dirty="0"/>
              <a:t>方法，覆盖</a:t>
            </a:r>
            <a:r>
              <a:rPr lang="en-US" altLang="zh-CN" dirty="0"/>
              <a:t>xxx</a:t>
            </a:r>
            <a:r>
              <a:rPr lang="zh-CN" altLang="zh-CN" dirty="0"/>
              <a:t>、</a:t>
            </a:r>
            <a:r>
              <a:rPr lang="en-US" altLang="zh-CN" dirty="0"/>
              <a:t>xxx</a:t>
            </a:r>
            <a:r>
              <a:rPr lang="zh-CN" altLang="zh-CN" dirty="0"/>
              <a:t>、</a:t>
            </a:r>
            <a:r>
              <a:rPr lang="en-US" altLang="zh-CN" dirty="0"/>
              <a:t>xxx</a:t>
            </a:r>
            <a:r>
              <a:rPr lang="zh-CN" altLang="zh-CN" dirty="0"/>
              <a:t>等，有效降低</a:t>
            </a:r>
            <a:r>
              <a:rPr lang="en-US" altLang="zh-CN" dirty="0"/>
              <a:t>xxx</a:t>
            </a:r>
            <a:r>
              <a:rPr lang="zh-CN" altLang="zh-CN" dirty="0"/>
              <a:t>，提升</a:t>
            </a:r>
            <a:r>
              <a:rPr lang="en-US" altLang="zh-CN" dirty="0"/>
              <a:t>xxx</a:t>
            </a:r>
            <a:r>
              <a:rPr lang="zh-CN" altLang="zh-CN" dirty="0"/>
              <a:t>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dirty="0"/>
              <a:t>经费总额</a:t>
            </a:r>
            <a:r>
              <a:rPr lang="en-US" dirty="0"/>
              <a:t>xxx</a:t>
            </a:r>
            <a:r>
              <a:rPr dirty="0"/>
              <a:t>万元。材料费</a:t>
            </a:r>
            <a:r>
              <a:rPr lang="en-US" dirty="0"/>
              <a:t>xxx</a:t>
            </a:r>
            <a:r>
              <a:rPr dirty="0"/>
              <a:t>万元用于实验配件和耗材，事务费</a:t>
            </a:r>
            <a:r>
              <a:rPr lang="en-US" dirty="0"/>
              <a:t>xxx</a:t>
            </a:r>
            <a:r>
              <a:rPr dirty="0"/>
              <a:t>万元用于调研交流和专家咨询，管理费</a:t>
            </a:r>
            <a:r>
              <a:rPr lang="en-US" dirty="0"/>
              <a:t>xxx</a:t>
            </a:r>
            <a:r>
              <a:rPr dirty="0"/>
              <a:t>万元，职工薪酬及劳务费</a:t>
            </a:r>
            <a:r>
              <a:rPr lang="en-US" dirty="0"/>
              <a:t>xxx</a:t>
            </a:r>
            <a:r>
              <a:rPr dirty="0"/>
              <a:t>万元。人力投入为主要支出，用于</a:t>
            </a:r>
            <a:r>
              <a:rPr lang="en-US" dirty="0"/>
              <a:t>xx</a:t>
            </a:r>
            <a:r>
              <a:rPr dirty="0"/>
              <a:t>年中的</a:t>
            </a:r>
            <a:r>
              <a:rPr lang="en-US" dirty="0"/>
              <a:t>xxx</a:t>
            </a:r>
            <a:r>
              <a:rPr dirty="0"/>
              <a:t>、</a:t>
            </a:r>
            <a:r>
              <a:rPr lang="en-US" dirty="0"/>
              <a:t>xxx</a:t>
            </a:r>
            <a:r>
              <a:rPr dirty="0"/>
              <a:t>及实验验证工作；预计收益和不可预见费均为</a:t>
            </a:r>
            <a:r>
              <a:rPr lang="en-US" dirty="0"/>
              <a:t>xxx</a:t>
            </a:r>
            <a:r>
              <a:rPr dirty="0"/>
              <a:t>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dirty="0" err="1"/>
              <a:t>软件所在</a:t>
            </a:r>
            <a:r>
              <a:rPr lang="en-US" dirty="0" err="1"/>
              <a:t>xxx</a:t>
            </a:r>
            <a:r>
              <a:rPr dirty="0" err="1"/>
              <a:t>方向具有长期积累，拥有</a:t>
            </a:r>
            <a:r>
              <a:rPr lang="en-US" dirty="0" err="1"/>
              <a:t>xxx</a:t>
            </a:r>
            <a:r>
              <a:rPr dirty="0" err="1"/>
              <a:t>研发及应用经验，为</a:t>
            </a:r>
            <a:r>
              <a:rPr lang="zh-CN" altLang="en-US" sz="1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本课题</a:t>
            </a:r>
            <a:r>
              <a:rPr lang="en-US" altLang="zh-CN" sz="1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xxx</a:t>
            </a:r>
            <a:r>
              <a:rPr lang="zh-CN" altLang="en-US" sz="1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</a:t>
            </a:r>
            <a:r>
              <a:rPr dirty="0" err="1"/>
              <a:t>研制提供基础。感谢各位专家，请批评指正</a:t>
            </a:r>
            <a:r>
              <a:rPr dirty="0"/>
              <a:t>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microsoft.com/office/2007/relationships/hdphoto" Target="../media/hdphoto5.wdp"/><Relationship Id="rId3" Type="http://schemas.microsoft.com/office/2007/relationships/hdphoto" Target="../media/hdphoto2.wdp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microsoft.com/office/2007/relationships/hdphoto" Target="../media/hdphoto3.wdp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EA3-00FB-A44C-ADD6-6E6C4B351AE7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BB5F-BD8F-BE4C-946A-C709BD5794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EA3-00FB-A44C-ADD6-6E6C4B351AE7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BB5F-BD8F-BE4C-946A-C709BD5794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EA3-00FB-A44C-ADD6-6E6C4B351AE7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BB5F-BD8F-BE4C-946A-C709BD5794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EA3-00FB-A44C-ADD6-6E6C4B351AE7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BB5F-BD8F-BE4C-946A-C709BD5794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EA3-00FB-A44C-ADD6-6E6C4B351AE7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BB5F-BD8F-BE4C-946A-C709BD5794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EA3-00FB-A44C-ADD6-6E6C4B351AE7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BB5F-BD8F-BE4C-946A-C709BD5794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EA3-00FB-A44C-ADD6-6E6C4B351AE7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BB5F-BD8F-BE4C-946A-C709BD5794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EA3-00FB-A44C-ADD6-6E6C4B351AE7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BB5F-BD8F-BE4C-946A-C709BD5794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EA3-00FB-A44C-ADD6-6E6C4B351AE7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BB5F-BD8F-BE4C-946A-C709BD5794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EA3-00FB-A44C-ADD6-6E6C4B351AE7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BB5F-BD8F-BE4C-946A-C709BD5794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EA3-00FB-A44C-ADD6-6E6C4B351AE7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DBB5F-BD8F-BE4C-946A-C709BD5794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7200" y="565175"/>
            <a:ext cx="12204318" cy="629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15"/>
          <p:cNvPicPr/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01" y="-14397"/>
            <a:ext cx="12205907" cy="779754"/>
          </a:xfrm>
          <a:prstGeom prst="rect">
            <a:avLst/>
          </a:prstGeom>
        </p:spPr>
      </p:pic>
      <p:pic>
        <p:nvPicPr>
          <p:cNvPr id="6" name="图片 8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4291" y="189399"/>
            <a:ext cx="437061" cy="43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9"/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3371" y="222003"/>
            <a:ext cx="1190853" cy="3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24"/>
          <p:cNvSpPr txBox="1">
            <a:spLocks noChangeArrowheads="1"/>
          </p:cNvSpPr>
          <p:nvPr userDrawn="1"/>
        </p:nvSpPr>
        <p:spPr bwMode="auto">
          <a:xfrm>
            <a:off x="10060980" y="6524930"/>
            <a:ext cx="2019353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buNone/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fld id="{A3C46C76-AA87-4FD3-BB14-97458D1D8AD3}" type="slidenum"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‹#›</a:t>
            </a:fld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618" y="117404"/>
            <a:ext cx="9650580" cy="546320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defRPr lang="zh-CN" altLang="en-US" sz="28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16"/>
          <p:cNvSpPr>
            <a:spLocks noChangeShapeType="1"/>
          </p:cNvSpPr>
          <p:nvPr/>
        </p:nvSpPr>
        <p:spPr bwMode="auto">
          <a:xfrm flipH="1">
            <a:off x="207970" y="1231957"/>
            <a:ext cx="10244405" cy="0"/>
          </a:xfrm>
          <a:prstGeom prst="line">
            <a:avLst/>
          </a:prstGeom>
          <a:noFill/>
          <a:ln w="19050">
            <a:solidFill>
              <a:srgbClr val="184C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8829" tIns="54414" rIns="108829" bIns="54414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buNone/>
            </a:pPr>
            <a:endParaRPr lang="zh-CN" altLang="en-US">
              <a:solidFill>
                <a:prstClr val="black"/>
              </a:solidFill>
              <a:latin typeface="Arial" panose="020B0704020202020204" pitchFamily="34" charset="0"/>
            </a:endParaRPr>
          </a:p>
        </p:txBody>
      </p:sp>
      <p:sp>
        <p:nvSpPr>
          <p:cNvPr id="13" name="Line 17"/>
          <p:cNvSpPr>
            <a:spLocks noChangeShapeType="1"/>
          </p:cNvSpPr>
          <p:nvPr/>
        </p:nvSpPr>
        <p:spPr bwMode="auto">
          <a:xfrm>
            <a:off x="207969" y="1268472"/>
            <a:ext cx="5305564" cy="0"/>
          </a:xfrm>
          <a:prstGeom prst="line">
            <a:avLst/>
          </a:prstGeom>
          <a:noFill/>
          <a:ln w="76200">
            <a:solidFill>
              <a:srgbClr val="184C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8829" tIns="54414" rIns="108829" bIns="54414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buNone/>
            </a:pPr>
            <a:endParaRPr lang="zh-CN" altLang="en-US">
              <a:solidFill>
                <a:prstClr val="black"/>
              </a:solidFill>
              <a:latin typeface="Arial" panose="020B0704020202020204" pitchFamily="34" charset="0"/>
            </a:endParaRPr>
          </a:p>
        </p:txBody>
      </p:sp>
      <p:pic>
        <p:nvPicPr>
          <p:cNvPr id="14" name="Picture 2" descr="H:\12-科院图片\科学院标记\高清院徽.jp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541" t="13664" r="23869" b="42468"/>
          <a:stretch>
            <a:fillRect/>
          </a:stretch>
        </p:blipFill>
        <p:spPr bwMode="auto">
          <a:xfrm>
            <a:off x="406638" y="312217"/>
            <a:ext cx="853468" cy="694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 descr="H:\12-科院图片\科学院标记\高清院徽.jp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823" t="59952" b="12341"/>
          <a:stretch>
            <a:fillRect/>
          </a:stretch>
        </p:blipFill>
        <p:spPr bwMode="auto">
          <a:xfrm>
            <a:off x="1342888" y="318876"/>
            <a:ext cx="2376635" cy="69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2"/>
          <p:cNvSpPr>
            <a:spLocks noChangeArrowheads="1"/>
          </p:cNvSpPr>
          <p:nvPr userDrawn="1"/>
        </p:nvSpPr>
        <p:spPr bwMode="auto">
          <a:xfrm>
            <a:off x="0" y="5364410"/>
            <a:ext cx="12193905" cy="115866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BCD4E2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楷体_GB2312" panose="0201060903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楷体_GB2312" panose="0201060903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楷体_GB2312" panose="0201060903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楷体_GB2312" panose="0201060903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defRPr/>
            </a:pPr>
            <a:endParaRPr lang="zh-CN" altLang="en-US" b="1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7" name="图片 12"/>
          <p:cNvPicPr/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53"/>
          <a:stretch>
            <a:fillRect/>
          </a:stretch>
        </p:blipFill>
        <p:spPr bwMode="auto">
          <a:xfrm>
            <a:off x="10162093" y="5364410"/>
            <a:ext cx="2034318" cy="1158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2"/>
          <p:cNvPicPr/>
          <p:nvPr userDrawn="1"/>
        </p:nvPicPr>
        <p:blipFill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59" r="3806"/>
          <a:stretch>
            <a:fillRect/>
          </a:stretch>
        </p:blipFill>
        <p:spPr bwMode="auto">
          <a:xfrm>
            <a:off x="4062376" y="5364410"/>
            <a:ext cx="2034318" cy="1158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1"/>
          <p:cNvPicPr/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136" y="5363760"/>
            <a:ext cx="2034318" cy="1158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图片 26"/>
          <p:cNvPicPr/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04" y="5364085"/>
            <a:ext cx="2034318" cy="1158985"/>
          </a:xfrm>
          <a:prstGeom prst="rect">
            <a:avLst/>
          </a:prstGeom>
        </p:spPr>
      </p:pic>
      <p:pic>
        <p:nvPicPr>
          <p:cNvPr id="28" name="图片 27"/>
          <p:cNvPicPr/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0" t="7486" r="4093" b="9362"/>
          <a:stretch>
            <a:fillRect/>
          </a:stretch>
        </p:blipFill>
        <p:spPr>
          <a:xfrm>
            <a:off x="6095615" y="5364410"/>
            <a:ext cx="2034318" cy="1158985"/>
          </a:xfrm>
          <a:prstGeom prst="rect">
            <a:avLst/>
          </a:prstGeom>
        </p:spPr>
      </p:pic>
      <p:pic>
        <p:nvPicPr>
          <p:cNvPr id="29" name="Picture 2"/>
          <p:cNvPicPr>
            <a:picLocks noChangeArrowheads="1"/>
          </p:cNvPicPr>
          <p:nvPr userDrawn="1"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2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19"/>
          <a:stretch>
            <a:fillRect/>
          </a:stretch>
        </p:blipFill>
        <p:spPr bwMode="auto">
          <a:xfrm>
            <a:off x="8128855" y="5364410"/>
            <a:ext cx="2034318" cy="115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C6EA3-00FB-A44C-ADD6-6E6C4B351AE7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DBB5F-BD8F-BE4C-946A-C709BD5794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60B69-195E-2996-8706-3D76EEA9A3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400" dirty="0">
                <a:latin typeface="Microsoft YaHei"/>
                <a:ea typeface="微软雅黑"/>
                <a:cs typeface="Microsoft YaHei"/>
              </a:rPr>
              <a:t>项目题目（微软雅黑，</a:t>
            </a:r>
            <a:r>
              <a:rPr lang="en-US" altLang="zh-CN" sz="4400" dirty="0">
                <a:latin typeface="Microsoft YaHei"/>
                <a:ea typeface="微软雅黑"/>
                <a:cs typeface="Microsoft YaHei"/>
              </a:rPr>
              <a:t>44</a:t>
            </a:r>
            <a:r>
              <a:rPr lang="zh-CN" altLang="en-US" sz="4400" dirty="0">
                <a:latin typeface="Microsoft YaHei"/>
                <a:ea typeface="微软雅黑"/>
                <a:cs typeface="Microsoft YaHei"/>
              </a:rPr>
              <a:t>号）</a:t>
            </a:r>
            <a:endParaRPr lang="zh-CN" altLang="en-US" dirty="0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3F96A5-09F6-8226-58D3-D3BCDF3774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/>
              <a:t>xxx</a:t>
            </a:r>
            <a:r>
              <a:rPr dirty="0" err="1"/>
              <a:t>评审答辩</a:t>
            </a:r>
            <a:r>
              <a:rPr lang="zh-CN" altLang="en-US" dirty="0"/>
              <a:t>（等线，</a:t>
            </a:r>
            <a:r>
              <a:rPr lang="en-US" altLang="zh-CN" dirty="0"/>
              <a:t>24</a:t>
            </a:r>
            <a:r>
              <a:rPr lang="zh-CN" altLang="en-US" dirty="0"/>
              <a:t>号）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DD2E93-C476-6AD2-DFDA-3A27324A0FCD}"/>
              </a:ext>
            </a:extLst>
          </p:cNvPr>
          <p:cNvSpPr txBox="1"/>
          <p:nvPr/>
        </p:nvSpPr>
        <p:spPr>
          <a:xfrm>
            <a:off x="8017010" y="5521756"/>
            <a:ext cx="4104000" cy="1206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dirty="0">
                <a:latin typeface="Times New Roman"/>
                <a:ea typeface="楷体"/>
                <a:cs typeface="Times New Roman"/>
              </a:rPr>
              <a:t>报告人：</a:t>
            </a:r>
            <a:r>
              <a:rPr lang="en-US" altLang="zh-CN" sz="2000" dirty="0">
                <a:latin typeface="Times New Roman"/>
                <a:ea typeface="楷体"/>
                <a:cs typeface="Times New Roman"/>
              </a:rPr>
              <a:t>xxx</a:t>
            </a:r>
            <a:r>
              <a:rPr lang="zh-CN" altLang="en-US" sz="2000" dirty="0">
                <a:latin typeface="Times New Roman"/>
                <a:ea typeface="楷体"/>
                <a:cs typeface="Times New Roman"/>
              </a:rPr>
              <a:t>（楷体，</a:t>
            </a:r>
            <a:r>
              <a:rPr lang="en-US" altLang="zh-CN" sz="2000" dirty="0">
                <a:latin typeface="Times New Roman"/>
                <a:ea typeface="楷体"/>
                <a:cs typeface="Times New Roman"/>
              </a:rPr>
              <a:t>20</a:t>
            </a:r>
            <a:r>
              <a:rPr lang="zh-CN" altLang="en-US" sz="2000" dirty="0">
                <a:latin typeface="Times New Roman"/>
                <a:ea typeface="楷体"/>
                <a:cs typeface="Times New Roman"/>
              </a:rPr>
              <a:t>号） </a:t>
            </a:r>
          </a:p>
          <a:p>
            <a:r>
              <a:rPr lang="zh-CN" altLang="en-US" sz="1800" dirty="0">
                <a:latin typeface="Times New Roman"/>
                <a:ea typeface="楷体"/>
                <a:cs typeface="Times New Roman"/>
              </a:rPr>
              <a:t>单位：</a:t>
            </a:r>
            <a:r>
              <a:rPr lang="en-US" altLang="zh-CN" sz="1800" dirty="0">
                <a:latin typeface="Times New Roman"/>
                <a:ea typeface="楷体"/>
                <a:cs typeface="Times New Roman"/>
              </a:rPr>
              <a:t>xxx</a:t>
            </a:r>
            <a:r>
              <a:rPr lang="zh-CN" altLang="en-US" dirty="0">
                <a:latin typeface="Times New Roman"/>
                <a:ea typeface="楷体"/>
                <a:cs typeface="Times New Roman"/>
              </a:rPr>
              <a:t>（楷体，</a:t>
            </a:r>
            <a:r>
              <a:rPr lang="en-US" altLang="zh-CN" dirty="0">
                <a:latin typeface="Times New Roman"/>
                <a:ea typeface="楷体"/>
                <a:cs typeface="Times New Roman"/>
              </a:rPr>
              <a:t>20</a:t>
            </a:r>
            <a:r>
              <a:rPr lang="zh-CN" altLang="en-US" dirty="0">
                <a:latin typeface="Times New Roman"/>
                <a:ea typeface="楷体"/>
                <a:cs typeface="Times New Roman"/>
              </a:rPr>
              <a:t>号）</a:t>
            </a:r>
            <a:endParaRPr lang="en-US" altLang="zh-CN" sz="1800" dirty="0">
              <a:latin typeface="Times New Roman"/>
              <a:ea typeface="楷体"/>
              <a:cs typeface="Times New Roman"/>
            </a:endParaRPr>
          </a:p>
          <a:p>
            <a:r>
              <a:rPr lang="zh-CN" altLang="en-US" sz="1800" dirty="0">
                <a:latin typeface="Times New Roman"/>
                <a:ea typeface="楷体"/>
                <a:cs typeface="Times New Roman"/>
              </a:rPr>
              <a:t>职位： </a:t>
            </a:r>
            <a:r>
              <a:rPr lang="en-US" altLang="zh-CN" sz="1800" dirty="0">
                <a:latin typeface="Times New Roman"/>
                <a:ea typeface="楷体"/>
                <a:cs typeface="Times New Roman"/>
              </a:rPr>
              <a:t>xx</a:t>
            </a:r>
            <a:r>
              <a:rPr lang="zh-CN" altLang="en-US" dirty="0">
                <a:latin typeface="Times New Roman"/>
                <a:ea typeface="楷体"/>
                <a:cs typeface="Times New Roman"/>
              </a:rPr>
              <a:t>（楷体，</a:t>
            </a:r>
            <a:r>
              <a:rPr lang="en-US" altLang="zh-CN" dirty="0">
                <a:latin typeface="Times New Roman"/>
                <a:ea typeface="楷体"/>
                <a:cs typeface="Times New Roman"/>
              </a:rPr>
              <a:t>20</a:t>
            </a:r>
            <a:r>
              <a:rPr lang="zh-CN" altLang="en-US" dirty="0">
                <a:latin typeface="Times New Roman"/>
                <a:ea typeface="楷体"/>
                <a:cs typeface="Times New Roman"/>
              </a:rPr>
              <a:t>号）</a:t>
            </a:r>
            <a:endParaRPr lang="zh-CN" altLang="en-US" sz="1800" dirty="0">
              <a:latin typeface="Times New Roman"/>
              <a:ea typeface="楷体"/>
              <a:cs typeface="Times New Roman"/>
            </a:endParaRPr>
          </a:p>
          <a:p>
            <a:r>
              <a:rPr lang="en-US" altLang="zh-CN" sz="2000" dirty="0">
                <a:latin typeface="Times New Roman"/>
                <a:ea typeface="楷体"/>
                <a:cs typeface="Times New Roman"/>
              </a:rPr>
              <a:t>xx</a:t>
            </a:r>
            <a:r>
              <a:rPr lang="zh-CN" altLang="en-US" sz="2000" dirty="0">
                <a:latin typeface="Times New Roman"/>
                <a:ea typeface="楷体"/>
                <a:cs typeface="Times New Roman"/>
              </a:rPr>
              <a:t>年</a:t>
            </a:r>
            <a:r>
              <a:rPr lang="en-US" altLang="zh-CN" sz="2000" dirty="0">
                <a:latin typeface="Times New Roman"/>
                <a:ea typeface="楷体"/>
                <a:cs typeface="Times New Roman"/>
              </a:rPr>
              <a:t>xx</a:t>
            </a:r>
            <a:r>
              <a:rPr lang="zh-CN" altLang="en-US" sz="2000" dirty="0">
                <a:latin typeface="Times New Roman"/>
                <a:ea typeface="楷体"/>
                <a:cs typeface="Times New Roman"/>
              </a:rPr>
              <a:t>月</a:t>
            </a:r>
            <a:r>
              <a:rPr lang="en-US" altLang="zh-CN" sz="2000" dirty="0">
                <a:latin typeface="Times New Roman"/>
                <a:ea typeface="楷体"/>
                <a:cs typeface="Times New Roman"/>
              </a:rPr>
              <a:t>xx</a:t>
            </a:r>
            <a:r>
              <a:rPr lang="zh-CN" altLang="en-US" sz="2000" dirty="0">
                <a:latin typeface="Times New Roman"/>
                <a:ea typeface="楷体"/>
                <a:cs typeface="Times New Roman"/>
              </a:rPr>
              <a:t>日（楷体，</a:t>
            </a:r>
            <a:r>
              <a:rPr lang="en-US" altLang="zh-CN" sz="2000" dirty="0">
                <a:latin typeface="Times New Roman"/>
                <a:ea typeface="楷体"/>
                <a:cs typeface="Times New Roman"/>
              </a:rPr>
              <a:t>20</a:t>
            </a:r>
            <a:r>
              <a:rPr lang="zh-CN" altLang="en-US" sz="2000" dirty="0">
                <a:latin typeface="Times New Roman"/>
                <a:ea typeface="楷体"/>
                <a:cs typeface="Times New Roman"/>
              </a:rPr>
              <a:t>号）</a:t>
            </a:r>
            <a:endParaRPr lang="en-US" altLang="zh-CN" sz="2000" dirty="0">
              <a:latin typeface="Times New Roman"/>
              <a:ea typeface="楷体"/>
              <a:cs typeface="Times New Roman"/>
            </a:endParaRPr>
          </a:p>
          <a:p>
            <a:endParaRPr lang="zh-CN" altLang="en-US" sz="2000" dirty="0">
              <a:latin typeface="Times New Roman"/>
              <a:ea typeface="楷体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8406" y="116818"/>
            <a:ext cx="9273093" cy="51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defRPr/>
            </a:pPr>
            <a:r>
              <a:rPr lang="en-US" altLang="zh-CN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xxx</a:t>
            </a: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领域积累</a:t>
            </a:r>
            <a:endParaRPr lang="zh-CN" sz="2800" b="1" spc="1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7E72843-3B4F-8AF6-FDDA-C8D6CCE57076}"/>
              </a:ext>
            </a:extLst>
          </p:cNvPr>
          <p:cNvSpPr txBox="1"/>
          <p:nvPr/>
        </p:nvSpPr>
        <p:spPr>
          <a:xfrm>
            <a:off x="239703" y="1072801"/>
            <a:ext cx="4506317" cy="54874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发表论文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：发表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篇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相关国内外高水平论文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CCF-A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篇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CCF-B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篇</a:t>
            </a: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项目经验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：作为重点研发方向，得到了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等多个重大专项的长期支持</a:t>
            </a:r>
            <a:endParaRPr lang="zh-CN" altLang="en-US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合作厂商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：与多家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厂商保持深度合作，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优化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余年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开发经验</a:t>
            </a:r>
            <a:endParaRPr lang="en-US" altLang="zh-CN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开发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款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设计和实现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余个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优化方法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大幅提升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优化能力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1200150" lvl="2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（有效示例，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性能提升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1200150" lvl="2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（有效示例，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性能提升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 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lvl="1">
              <a:spcAft>
                <a:spcPts val="800"/>
              </a:spcAft>
            </a:pP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endParaRPr lang="zh-CN" altLang="en-US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2DD8BFC-2FC7-7843-866C-480BEC64D9D1}"/>
              </a:ext>
            </a:extLst>
          </p:cNvPr>
          <p:cNvSpPr txBox="1"/>
          <p:nvPr/>
        </p:nvSpPr>
        <p:spPr>
          <a:xfrm>
            <a:off x="141916" y="6479813"/>
            <a:ext cx="11350625" cy="4054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u"/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积累深厚、代表论文质量高、项目经验丰富，具备本课题研制基础。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98B2C7-B79B-0F82-9916-38AC80463FED}"/>
              </a:ext>
            </a:extLst>
          </p:cNvPr>
          <p:cNvSpPr/>
          <p:nvPr/>
        </p:nvSpPr>
        <p:spPr>
          <a:xfrm>
            <a:off x="5256111" y="990195"/>
            <a:ext cx="6314931" cy="15185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，罗列合作厂商的图标（需要上网搜索）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C986A4-25B9-DEE9-A55B-A0A880FEBB4D}"/>
              </a:ext>
            </a:extLst>
          </p:cNvPr>
          <p:cNvSpPr/>
          <p:nvPr/>
        </p:nvSpPr>
        <p:spPr>
          <a:xfrm>
            <a:off x="8505204" y="2698262"/>
            <a:ext cx="3056320" cy="1704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2</a:t>
            </a:r>
            <a:r>
              <a:rPr lang="zh-CN" altLang="en-US" dirty="0"/>
              <a:t>，性能加速或者效果图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7E38E3-1D42-4099-5E84-736359E2551C}"/>
              </a:ext>
            </a:extLst>
          </p:cNvPr>
          <p:cNvSpPr/>
          <p:nvPr/>
        </p:nvSpPr>
        <p:spPr>
          <a:xfrm>
            <a:off x="8181181" y="4617987"/>
            <a:ext cx="3990907" cy="1800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3</a:t>
            </a:r>
            <a:r>
              <a:rPr lang="zh-CN" altLang="en-US" dirty="0"/>
              <a:t>，罗列发表论文或者获奖证明材料图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E9C34A-07AC-406A-8517-9483E8A8E45B}"/>
              </a:ext>
            </a:extLst>
          </p:cNvPr>
          <p:cNvSpPr/>
          <p:nvPr/>
        </p:nvSpPr>
        <p:spPr>
          <a:xfrm>
            <a:off x="5217804" y="2822628"/>
            <a:ext cx="2901476" cy="3590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4</a:t>
            </a:r>
            <a:r>
              <a:rPr lang="zh-CN" altLang="en-US" dirty="0"/>
              <a:t>，技术演进或者流程图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1000"/>
    </mc:Choice>
    <mc:Fallback xmlns="">
      <p:transition advClick="0" advTm="4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D0644-D721-FF8A-ACE0-1B112350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6095B4F-F135-6CD2-FA2E-7162F4C7C546}"/>
              </a:ext>
            </a:extLst>
          </p:cNvPr>
          <p:cNvSpPr txBox="1"/>
          <p:nvPr/>
        </p:nvSpPr>
        <p:spPr>
          <a:xfrm>
            <a:off x="408406" y="116818"/>
            <a:ext cx="9273093" cy="51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defRPr/>
            </a:pP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需求分析</a:t>
            </a:r>
            <a:endParaRPr lang="zh-CN" sz="2800" b="1" spc="1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89C4485-0557-A401-2AF0-49E7223ADE63}"/>
              </a:ext>
            </a:extLst>
          </p:cNvPr>
          <p:cNvSpPr txBox="1"/>
          <p:nvPr/>
        </p:nvSpPr>
        <p:spPr>
          <a:xfrm>
            <a:off x="292934" y="1283427"/>
            <a:ext cx="3945695" cy="51613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级标题间有逻辑关系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lvl="1">
              <a:spcAft>
                <a:spcPts val="800"/>
              </a:spcAft>
            </a:pP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959D27-A691-1C2E-0C88-9C632C68AE42}"/>
              </a:ext>
            </a:extLst>
          </p:cNvPr>
          <p:cNvSpPr/>
          <p:nvPr/>
        </p:nvSpPr>
        <p:spPr>
          <a:xfrm>
            <a:off x="4987623" y="778510"/>
            <a:ext cx="3298064" cy="30910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AC876-01FB-7770-1D72-F18E54EF6060}"/>
              </a:ext>
            </a:extLst>
          </p:cNvPr>
          <p:cNvSpPr/>
          <p:nvPr/>
        </p:nvSpPr>
        <p:spPr>
          <a:xfrm>
            <a:off x="8646179" y="778510"/>
            <a:ext cx="3298064" cy="30910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9302D7-7D48-4F2B-42A0-50222F8E6D9B}"/>
              </a:ext>
            </a:extLst>
          </p:cNvPr>
          <p:cNvSpPr/>
          <p:nvPr/>
        </p:nvSpPr>
        <p:spPr>
          <a:xfrm>
            <a:off x="4987623" y="4017066"/>
            <a:ext cx="6956620" cy="26722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009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1000"/>
    </mc:Choice>
    <mc:Fallback xmlns="">
      <p:transition advClick="0" advTm="41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D0644-D721-FF8A-ACE0-1B112350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6095B4F-F135-6CD2-FA2E-7162F4C7C546}"/>
              </a:ext>
            </a:extLst>
          </p:cNvPr>
          <p:cNvSpPr txBox="1"/>
          <p:nvPr/>
        </p:nvSpPr>
        <p:spPr>
          <a:xfrm>
            <a:off x="408406" y="116818"/>
            <a:ext cx="9273093" cy="51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defRPr/>
            </a:pP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研究现状</a:t>
            </a:r>
            <a:endParaRPr lang="zh-CN" sz="2800" b="1" spc="1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89C4485-0557-A401-2AF0-49E7223ADE63}"/>
              </a:ext>
            </a:extLst>
          </p:cNvPr>
          <p:cNvSpPr txBox="1"/>
          <p:nvPr/>
        </p:nvSpPr>
        <p:spPr>
          <a:xfrm>
            <a:off x="522024" y="1475162"/>
            <a:ext cx="3858311" cy="41976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（总体描述，楷体，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  <a:endParaRPr lang="en-US" altLang="zh-CN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（是什么，楷体，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包括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xxx1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未充分考虑存算一体架特性</a:t>
            </a: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  <a:endParaRPr lang="en-US" altLang="zh-CN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职能：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不足：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xxx2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  <a:endParaRPr lang="en-US" altLang="zh-CN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职能：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不足：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72DFF5-BFED-EA37-E393-E41675705785}"/>
              </a:ext>
            </a:extLst>
          </p:cNvPr>
          <p:cNvSpPr/>
          <p:nvPr/>
        </p:nvSpPr>
        <p:spPr>
          <a:xfrm>
            <a:off x="4725650" y="833322"/>
            <a:ext cx="6972300" cy="287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，整体框架图，同时描述不同组件间的关系，不同组件间连线带文字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C08997-A901-7E8C-8FE4-D341910D4A63}"/>
              </a:ext>
            </a:extLst>
          </p:cNvPr>
          <p:cNvSpPr/>
          <p:nvPr/>
        </p:nvSpPr>
        <p:spPr>
          <a:xfrm>
            <a:off x="4725650" y="3825097"/>
            <a:ext cx="6972300" cy="287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/</a:t>
            </a:r>
            <a:r>
              <a:rPr lang="zh-CN" altLang="en-US" dirty="0"/>
              <a:t>表</a:t>
            </a:r>
            <a:r>
              <a:rPr lang="en-US" altLang="zh-CN" dirty="0"/>
              <a:t>2</a:t>
            </a:r>
            <a:r>
              <a:rPr lang="zh-CN" altLang="en-US" dirty="0"/>
              <a:t>，描述因为什么差异，导致驱动的工作，可列表格</a:t>
            </a:r>
            <a:r>
              <a:rPr lang="en-US" altLang="zh-CN" dirty="0"/>
              <a:t>4</a:t>
            </a:r>
            <a:r>
              <a:rPr lang="zh-CN" altLang="en-US" dirty="0"/>
              <a:t>列，维度，传统，目标，驱动工作。</a:t>
            </a:r>
          </a:p>
        </p:txBody>
      </p:sp>
    </p:spTree>
    <p:extLst>
      <p:ext uri="{BB962C8B-B14F-4D97-AF65-F5344CB8AC3E}">
        <p14:creationId xmlns:p14="http://schemas.microsoft.com/office/powerpoint/2010/main" val="395009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1000"/>
    </mc:Choice>
    <mc:Fallback xmlns="">
      <p:transition advClick="0" advTm="4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940F-A6F3-F554-2233-AF00EE3A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24E660-6B8E-8BEC-342D-0B7FCA016CC1}"/>
              </a:ext>
            </a:extLst>
          </p:cNvPr>
          <p:cNvSpPr txBox="1"/>
          <p:nvPr/>
        </p:nvSpPr>
        <p:spPr>
          <a:xfrm>
            <a:off x="408406" y="116818"/>
            <a:ext cx="9273093" cy="51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defRPr/>
            </a:pP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研究概述</a:t>
            </a:r>
            <a:endParaRPr lang="zh-CN" sz="2800" b="1" spc="1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ACC1451-AEB8-AE53-E673-44390C5D0D45}"/>
              </a:ext>
            </a:extLst>
          </p:cNvPr>
          <p:cNvSpPr txBox="1"/>
          <p:nvPr/>
        </p:nvSpPr>
        <p:spPr>
          <a:xfrm>
            <a:off x="7091123" y="1487687"/>
            <a:ext cx="4431211" cy="3794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研究目标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句话概述研究目标，楷体，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研究内容一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xxx1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提出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（研究内容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的子研究问题或者技术，楷体，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建立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设计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研究内容二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提出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（研究内容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的子研究问题或者技术，楷体，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建立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设计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endParaRPr lang="zh-CN" altLang="en-US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124CA0-665E-C0F0-4108-F5606F2561DB}"/>
              </a:ext>
            </a:extLst>
          </p:cNvPr>
          <p:cNvSpPr txBox="1"/>
          <p:nvPr/>
        </p:nvSpPr>
        <p:spPr>
          <a:xfrm>
            <a:off x="1001454" y="6139017"/>
            <a:ext cx="10996957" cy="4054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u"/>
            </a:pP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句话说明亮点，楷体，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77C052-A615-0126-15D4-F1512C439ACD}"/>
              </a:ext>
            </a:extLst>
          </p:cNvPr>
          <p:cNvSpPr/>
          <p:nvPr/>
        </p:nvSpPr>
        <p:spPr>
          <a:xfrm>
            <a:off x="408406" y="1759801"/>
            <a:ext cx="6536226" cy="33383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，整体框架图，覆盖大的研究内容，以及每个研究内容中的子研究点，同时描述其相互间的逻辑关系</a:t>
            </a:r>
          </a:p>
        </p:txBody>
      </p:sp>
    </p:spTree>
    <p:extLst>
      <p:ext uri="{BB962C8B-B14F-4D97-AF65-F5344CB8AC3E}">
        <p14:creationId xmlns:p14="http://schemas.microsoft.com/office/powerpoint/2010/main" val="98275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1000"/>
    </mc:Choice>
    <mc:Fallback xmlns="">
      <p:transition advClick="0" advTm="41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940F-A6F3-F554-2233-AF00EE3A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24E660-6B8E-8BEC-342D-0B7FCA016CC1}"/>
              </a:ext>
            </a:extLst>
          </p:cNvPr>
          <p:cNvSpPr txBox="1"/>
          <p:nvPr/>
        </p:nvSpPr>
        <p:spPr>
          <a:xfrm>
            <a:off x="408406" y="116818"/>
            <a:ext cx="9273093" cy="51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defRPr/>
            </a:pP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研究内容一：</a:t>
            </a:r>
            <a:r>
              <a:rPr lang="en-US" altLang="zh-CN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xxx</a:t>
            </a: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（侧重讲方法，突出创新性）</a:t>
            </a:r>
            <a:endParaRPr lang="zh-CN" sz="2800" b="1" spc="1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ACC1451-AEB8-AE53-E673-44390C5D0D45}"/>
              </a:ext>
            </a:extLst>
          </p:cNvPr>
          <p:cNvSpPr txBox="1"/>
          <p:nvPr/>
        </p:nvSpPr>
        <p:spPr>
          <a:xfrm>
            <a:off x="6701996" y="911973"/>
            <a:ext cx="5079843" cy="50058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（研究内容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的子问题，楷体，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传统不足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设计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（提出创新思路，楷体，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（描述策略和意义，楷体，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（研究内容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的子问题，楷体，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传统不足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设计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（提出创新思路，楷体，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（描述策略和意义，楷体，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（研究内容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的子问题，楷体，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传统不足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设计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（提出创新思路，楷体，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（描述策略和意义，楷体，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endParaRPr lang="zh-CN" altLang="en-US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fontAlgn="auto">
              <a:spcAft>
                <a:spcPts val="800"/>
              </a:spcAft>
            </a:pPr>
            <a:endParaRPr lang="zh-CN" altLang="en-US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124CA0-665E-C0F0-4108-F5606F2561DB}"/>
              </a:ext>
            </a:extLst>
          </p:cNvPr>
          <p:cNvSpPr txBox="1"/>
          <p:nvPr/>
        </p:nvSpPr>
        <p:spPr>
          <a:xfrm>
            <a:off x="716140" y="6115378"/>
            <a:ext cx="10996957" cy="4054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u"/>
            </a:pP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句话说明亮点，楷体，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 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3ABE4A-9299-32ED-0D17-71554A23C4BB}"/>
              </a:ext>
            </a:extLst>
          </p:cNvPr>
          <p:cNvSpPr/>
          <p:nvPr/>
        </p:nvSpPr>
        <p:spPr>
          <a:xfrm>
            <a:off x="408406" y="881436"/>
            <a:ext cx="5992394" cy="50951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研究内容一的框架图</a:t>
            </a:r>
          </a:p>
        </p:txBody>
      </p:sp>
    </p:spTree>
    <p:extLst>
      <p:ext uri="{BB962C8B-B14F-4D97-AF65-F5344CB8AC3E}">
        <p14:creationId xmlns:p14="http://schemas.microsoft.com/office/powerpoint/2010/main" val="98275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1000"/>
    </mc:Choice>
    <mc:Fallback xmlns="">
      <p:transition advClick="0" advTm="4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940F-A6F3-F554-2233-AF00EE3A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24E660-6B8E-8BEC-342D-0B7FCA016CC1}"/>
              </a:ext>
            </a:extLst>
          </p:cNvPr>
          <p:cNvSpPr txBox="1"/>
          <p:nvPr/>
        </p:nvSpPr>
        <p:spPr>
          <a:xfrm>
            <a:off x="408406" y="116818"/>
            <a:ext cx="9273093" cy="51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研究内容一：</a:t>
            </a:r>
            <a:r>
              <a:rPr lang="en-US" altLang="zh-CN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xxx(</a:t>
            </a: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侧重讲过程</a:t>
            </a:r>
            <a:r>
              <a:rPr lang="en-US" altLang="zh-CN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)</a:t>
            </a:r>
            <a:endParaRPr lang="zh-CN" sz="2800" b="1" spc="1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124CA0-665E-C0F0-4108-F5606F2561DB}"/>
              </a:ext>
            </a:extLst>
          </p:cNvPr>
          <p:cNvSpPr txBox="1"/>
          <p:nvPr/>
        </p:nvSpPr>
        <p:spPr>
          <a:xfrm>
            <a:off x="597521" y="5948610"/>
            <a:ext cx="10996957" cy="4054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u"/>
            </a:pP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句话说明亮点，楷体，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 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D7B682-4D10-91F9-994B-15E9ECF53A36}"/>
              </a:ext>
            </a:extLst>
          </p:cNvPr>
          <p:cNvSpPr/>
          <p:nvPr/>
        </p:nvSpPr>
        <p:spPr>
          <a:xfrm>
            <a:off x="-19674" y="1403311"/>
            <a:ext cx="6030159" cy="4051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1 </a:t>
            </a:r>
            <a:r>
              <a:rPr lang="zh-CN" altLang="en-US" dirty="0"/>
              <a:t>，流程图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65C8FB-9CC3-B763-0245-2893A7287466}"/>
              </a:ext>
            </a:extLst>
          </p:cNvPr>
          <p:cNvSpPr txBox="1"/>
          <p:nvPr/>
        </p:nvSpPr>
        <p:spPr>
          <a:xfrm>
            <a:off x="7160799" y="1471374"/>
            <a:ext cx="4583181" cy="37283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800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特定过程，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句话描述，楷体，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特定过程，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特定过程，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特定过程，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8275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1000"/>
    </mc:Choice>
    <mc:Fallback xmlns="">
      <p:transition advClick="0" advTm="41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940F-A6F3-F554-2233-AF00EE3A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24E660-6B8E-8BEC-342D-0B7FCA016CC1}"/>
              </a:ext>
            </a:extLst>
          </p:cNvPr>
          <p:cNvSpPr txBox="1"/>
          <p:nvPr/>
        </p:nvSpPr>
        <p:spPr>
          <a:xfrm>
            <a:off x="408406" y="116818"/>
            <a:ext cx="9273093" cy="111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研究内容二：</a:t>
            </a:r>
            <a:r>
              <a:rPr lang="en-US" altLang="zh-CN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xxx</a:t>
            </a: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（侧重讲方法，突出创新性）</a:t>
            </a:r>
          </a:p>
          <a:p>
            <a:pPr marL="0" lvl="1" algn="l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defRPr/>
            </a:pPr>
            <a:endParaRPr lang="zh-CN" sz="2800" b="1" spc="1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124CA0-665E-C0F0-4108-F5606F2561DB}"/>
              </a:ext>
            </a:extLst>
          </p:cNvPr>
          <p:cNvSpPr txBox="1"/>
          <p:nvPr/>
        </p:nvSpPr>
        <p:spPr>
          <a:xfrm>
            <a:off x="1001454" y="6139017"/>
            <a:ext cx="10996957" cy="4054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u"/>
            </a:pP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句话说明亮点，楷体，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 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B23E24-82A9-855A-A423-E624A85E0F04}"/>
              </a:ext>
            </a:extLst>
          </p:cNvPr>
          <p:cNvSpPr txBox="1"/>
          <p:nvPr/>
        </p:nvSpPr>
        <p:spPr>
          <a:xfrm>
            <a:off x="6762808" y="1333483"/>
            <a:ext cx="5079843" cy="50058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（研究内容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的子问题，楷体，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传统不足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设计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（提出创新思路，楷体，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（描述策略和意义，楷体，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（研究内容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的子问题，楷体，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传统不足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设计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（提出创新思路，楷体，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（描述策略和意义，楷体，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（研究内容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的子问题，楷体，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传统不足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设计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（提出创新思路，楷体，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（描述策略和意义，楷体，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endParaRPr lang="en-US" altLang="zh-CN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endParaRPr lang="zh-CN" altLang="en-US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fontAlgn="auto">
              <a:spcAft>
                <a:spcPts val="800"/>
              </a:spcAft>
            </a:pPr>
            <a:endParaRPr lang="zh-CN" altLang="en-US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04CB71-B3D5-8CFD-152E-F8377CA3BB6D}"/>
              </a:ext>
            </a:extLst>
          </p:cNvPr>
          <p:cNvSpPr/>
          <p:nvPr/>
        </p:nvSpPr>
        <p:spPr>
          <a:xfrm>
            <a:off x="408406" y="1333483"/>
            <a:ext cx="5992394" cy="45085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研究内容二的框架图</a:t>
            </a:r>
          </a:p>
        </p:txBody>
      </p:sp>
    </p:spTree>
    <p:extLst>
      <p:ext uri="{BB962C8B-B14F-4D97-AF65-F5344CB8AC3E}">
        <p14:creationId xmlns:p14="http://schemas.microsoft.com/office/powerpoint/2010/main" val="98275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1000"/>
    </mc:Choice>
    <mc:Fallback xmlns="">
      <p:transition advClick="0" advTm="4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940F-A6F3-F554-2233-AF00EE3A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24E660-6B8E-8BEC-342D-0B7FCA016CC1}"/>
              </a:ext>
            </a:extLst>
          </p:cNvPr>
          <p:cNvSpPr txBox="1"/>
          <p:nvPr/>
        </p:nvSpPr>
        <p:spPr>
          <a:xfrm>
            <a:off x="408406" y="116818"/>
            <a:ext cx="9273093" cy="51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研究内容二：</a:t>
            </a:r>
            <a:r>
              <a:rPr lang="en-US" altLang="zh-CN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xxx</a:t>
            </a: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（侧重讲过程）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ACC1451-AEB8-AE53-E673-44390C5D0D45}"/>
              </a:ext>
            </a:extLst>
          </p:cNvPr>
          <p:cNvSpPr txBox="1"/>
          <p:nvPr/>
        </p:nvSpPr>
        <p:spPr>
          <a:xfrm>
            <a:off x="7160799" y="1471374"/>
            <a:ext cx="4759451" cy="37283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800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特定过程，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句话描述，楷体，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特定过程，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特定过程，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特定过程，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124CA0-665E-C0F0-4108-F5606F2561DB}"/>
              </a:ext>
            </a:extLst>
          </p:cNvPr>
          <p:cNvSpPr txBox="1"/>
          <p:nvPr/>
        </p:nvSpPr>
        <p:spPr>
          <a:xfrm>
            <a:off x="1001454" y="6139017"/>
            <a:ext cx="10996957" cy="4054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u"/>
            </a:pP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句话说明亮点，楷体，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 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DBDE4E-6859-FB21-2923-6D54C5400E22}"/>
              </a:ext>
            </a:extLst>
          </p:cNvPr>
          <p:cNvSpPr/>
          <p:nvPr/>
        </p:nvSpPr>
        <p:spPr>
          <a:xfrm>
            <a:off x="636861" y="1304311"/>
            <a:ext cx="6030159" cy="4051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1 </a:t>
            </a:r>
            <a:r>
              <a:rPr lang="zh-CN" altLang="en-US" dirty="0"/>
              <a:t>，流程图</a:t>
            </a:r>
          </a:p>
        </p:txBody>
      </p:sp>
    </p:spTree>
    <p:extLst>
      <p:ext uri="{BB962C8B-B14F-4D97-AF65-F5344CB8AC3E}">
        <p14:creationId xmlns:p14="http://schemas.microsoft.com/office/powerpoint/2010/main" val="98275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1000"/>
    </mc:Choice>
    <mc:Fallback xmlns="">
      <p:transition advClick="0" advTm="41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940F-A6F3-F554-2233-AF00EE3A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24E660-6B8E-8BEC-342D-0B7FCA016CC1}"/>
              </a:ext>
            </a:extLst>
          </p:cNvPr>
          <p:cNvSpPr txBox="1"/>
          <p:nvPr/>
        </p:nvSpPr>
        <p:spPr>
          <a:xfrm>
            <a:off x="408406" y="116818"/>
            <a:ext cx="9273093" cy="51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defRPr/>
            </a:pP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主要技术指标</a:t>
            </a:r>
            <a:endParaRPr lang="zh-CN" sz="2800" b="1" spc="1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124CA0-665E-C0F0-4108-F5606F2561DB}"/>
              </a:ext>
            </a:extLst>
          </p:cNvPr>
          <p:cNvSpPr txBox="1"/>
          <p:nvPr/>
        </p:nvSpPr>
        <p:spPr>
          <a:xfrm>
            <a:off x="1001454" y="6139017"/>
            <a:ext cx="10996957" cy="4054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u"/>
            </a:pP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句话概述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EAF340-BC9F-94DE-AD03-ACD2D6F48D6D}"/>
              </a:ext>
            </a:extLst>
          </p:cNvPr>
          <p:cNvSpPr txBox="1"/>
          <p:nvPr/>
        </p:nvSpPr>
        <p:spPr>
          <a:xfrm>
            <a:off x="7067309" y="1381257"/>
            <a:ext cx="4390233" cy="37283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800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句话描述，量化指标，楷体，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句话描述，量化指标，楷体，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句话描述，量化指标，楷体，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句话描述，量化指标，楷体，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5AC3C3-CA2A-D1DE-7BA3-436655A29A13}"/>
              </a:ext>
            </a:extLst>
          </p:cNvPr>
          <p:cNvSpPr/>
          <p:nvPr/>
        </p:nvSpPr>
        <p:spPr>
          <a:xfrm>
            <a:off x="887154" y="1347784"/>
            <a:ext cx="5498478" cy="41624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/</a:t>
            </a:r>
            <a:r>
              <a:rPr lang="zh-CN" altLang="en-US" dirty="0"/>
              <a:t>表</a:t>
            </a:r>
          </a:p>
        </p:txBody>
      </p:sp>
    </p:spTree>
    <p:extLst>
      <p:ext uri="{BB962C8B-B14F-4D97-AF65-F5344CB8AC3E}">
        <p14:creationId xmlns:p14="http://schemas.microsoft.com/office/powerpoint/2010/main" val="98275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1000"/>
    </mc:Choice>
    <mc:Fallback xmlns="">
      <p:transition advClick="0" advTm="41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940F-A6F3-F554-2233-AF00EE3A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24E660-6B8E-8BEC-342D-0B7FCA016CC1}"/>
              </a:ext>
            </a:extLst>
          </p:cNvPr>
          <p:cNvSpPr txBox="1"/>
          <p:nvPr/>
        </p:nvSpPr>
        <p:spPr>
          <a:xfrm>
            <a:off x="408406" y="116818"/>
            <a:ext cx="9273093" cy="51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defRPr/>
            </a:pP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研究成果及考核方式</a:t>
            </a:r>
            <a:endParaRPr lang="zh-CN" sz="2800" b="1" spc="1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124CA0-665E-C0F0-4108-F5606F2561DB}"/>
              </a:ext>
            </a:extLst>
          </p:cNvPr>
          <p:cNvSpPr txBox="1"/>
          <p:nvPr/>
        </p:nvSpPr>
        <p:spPr>
          <a:xfrm>
            <a:off x="1001454" y="6139017"/>
            <a:ext cx="10996957" cy="4054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u"/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F3ABAF-EED5-E85E-19A5-F09FA182887F}"/>
              </a:ext>
            </a:extLst>
          </p:cNvPr>
          <p:cNvSpPr txBox="1"/>
          <p:nvPr/>
        </p:nvSpPr>
        <p:spPr>
          <a:xfrm>
            <a:off x="7300000" y="1705233"/>
            <a:ext cx="4388895" cy="37283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800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句话描述，楷体，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(1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个词，楷体，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句话描述，楷体，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号字）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5CE6F8-F328-B436-CD09-2084476A8A62}"/>
              </a:ext>
            </a:extLst>
          </p:cNvPr>
          <p:cNvSpPr/>
          <p:nvPr/>
        </p:nvSpPr>
        <p:spPr>
          <a:xfrm>
            <a:off x="1001454" y="1488198"/>
            <a:ext cx="5498478" cy="41624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/</a:t>
            </a:r>
            <a:r>
              <a:rPr lang="zh-CN" altLang="en-US" dirty="0"/>
              <a:t>表</a:t>
            </a:r>
          </a:p>
        </p:txBody>
      </p:sp>
    </p:spTree>
    <p:extLst>
      <p:ext uri="{BB962C8B-B14F-4D97-AF65-F5344CB8AC3E}">
        <p14:creationId xmlns:p14="http://schemas.microsoft.com/office/powerpoint/2010/main" val="98275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1000"/>
    </mc:Choice>
    <mc:Fallback xmlns="">
      <p:transition advClick="0" advTm="41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940F-A6F3-F554-2233-AF00EE3A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24E660-6B8E-8BEC-342D-0B7FCA016CC1}"/>
              </a:ext>
            </a:extLst>
          </p:cNvPr>
          <p:cNvSpPr txBox="1"/>
          <p:nvPr/>
        </p:nvSpPr>
        <p:spPr>
          <a:xfrm>
            <a:off x="408406" y="116818"/>
            <a:ext cx="9273093" cy="51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defRPr/>
            </a:pP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研究周期与进度安排</a:t>
            </a:r>
            <a:endParaRPr lang="zh-CN" sz="2800" b="1" spc="1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ACC1451-AEB8-AE53-E673-44390C5D0D45}"/>
              </a:ext>
            </a:extLst>
          </p:cNvPr>
          <p:cNvSpPr txBox="1"/>
          <p:nvPr/>
        </p:nvSpPr>
        <p:spPr>
          <a:xfrm>
            <a:off x="7567200" y="1706400"/>
            <a:ext cx="4187798" cy="324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—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月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xxx,xxx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—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月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xxx,xxx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—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月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xxx,xxx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—</a:t>
            </a:r>
            <a:r>
              <a:rPr lang="en-US" altLang="zh-CN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月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xxx,xxx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18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楷体，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号字，如果有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级标题</a:t>
            </a:r>
            <a:r>
              <a:rPr lang="en-US" altLang="zh-CN" sz="1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124CA0-665E-C0F0-4108-F5606F2561DB}"/>
              </a:ext>
            </a:extLst>
          </p:cNvPr>
          <p:cNvSpPr txBox="1"/>
          <p:nvPr/>
        </p:nvSpPr>
        <p:spPr>
          <a:xfrm>
            <a:off x="1001454" y="6139017"/>
            <a:ext cx="10996957" cy="4054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u"/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92D4C1-3C27-C591-E6D4-998AC35E3F63}"/>
              </a:ext>
            </a:extLst>
          </p:cNvPr>
          <p:cNvSpPr/>
          <p:nvPr/>
        </p:nvSpPr>
        <p:spPr>
          <a:xfrm>
            <a:off x="887154" y="1347784"/>
            <a:ext cx="5498478" cy="41624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/</a:t>
            </a:r>
            <a:r>
              <a:rPr lang="zh-CN" altLang="en-US" dirty="0"/>
              <a:t>表</a:t>
            </a:r>
          </a:p>
        </p:txBody>
      </p:sp>
    </p:spTree>
    <p:extLst>
      <p:ext uri="{BB962C8B-B14F-4D97-AF65-F5344CB8AC3E}">
        <p14:creationId xmlns:p14="http://schemas.microsoft.com/office/powerpoint/2010/main" val="98275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1000"/>
    </mc:Choice>
    <mc:Fallback xmlns="">
      <p:transition advClick="0" advTm="41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940F-A6F3-F554-2233-AF00EE3A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24E660-6B8E-8BEC-342D-0B7FCA016CC1}"/>
              </a:ext>
            </a:extLst>
          </p:cNvPr>
          <p:cNvSpPr txBox="1"/>
          <p:nvPr/>
        </p:nvSpPr>
        <p:spPr>
          <a:xfrm>
            <a:off x="408406" y="116818"/>
            <a:ext cx="9273093" cy="51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l" defTabSz="1088390">
              <a:lnSpc>
                <a:spcPts val="35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defRPr/>
            </a:pPr>
            <a:r>
              <a:rPr lang="zh-CN" altLang="en-US" sz="28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+mn-lt"/>
              </a:rPr>
              <a:t>经费预算</a:t>
            </a:r>
            <a:endParaRPr lang="zh-CN" sz="2800" b="1" spc="100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ACC1451-AEB8-AE53-E673-44390C5D0D45}"/>
              </a:ext>
            </a:extLst>
          </p:cNvPr>
          <p:cNvSpPr txBox="1"/>
          <p:nvPr/>
        </p:nvSpPr>
        <p:spPr>
          <a:xfrm>
            <a:off x="7567200" y="1706400"/>
            <a:ext cx="3559364" cy="324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7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总经费</a:t>
            </a:r>
            <a:r>
              <a:rPr lang="zh-CN" altLang="en-US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万元，研究周期</a:t>
            </a:r>
            <a:r>
              <a:rPr lang="en-US" altLang="zh-CN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年</a:t>
            </a: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7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职工薪酬及劳务费</a:t>
            </a:r>
            <a:r>
              <a:rPr lang="zh-CN" altLang="en-US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万元，保障研发投入</a:t>
            </a: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7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材料费</a:t>
            </a:r>
            <a:r>
              <a:rPr lang="zh-CN" altLang="en-US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</a:t>
            </a:r>
            <a:r>
              <a:rPr lang="zh-CN" altLang="en-US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万元，用于研发与实验配套耗材</a:t>
            </a: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7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事务费</a:t>
            </a:r>
            <a:r>
              <a:rPr lang="en-US" altLang="zh-CN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</a:t>
            </a:r>
            <a:r>
              <a:rPr lang="zh-CN" altLang="en-US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万元，用于调研、交流与技术咨询</a:t>
            </a:r>
          </a:p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Ø"/>
            </a:pPr>
            <a:r>
              <a:rPr lang="zh-CN" altLang="en-US" sz="17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管理费</a:t>
            </a:r>
            <a:r>
              <a:rPr lang="zh-CN" altLang="en-US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</a:t>
            </a:r>
            <a:r>
              <a:rPr lang="zh-CN" altLang="en-US" sz="17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万元，按总经费5%计取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124CA0-665E-C0F0-4108-F5606F2561DB}"/>
              </a:ext>
            </a:extLst>
          </p:cNvPr>
          <p:cNvSpPr txBox="1"/>
          <p:nvPr/>
        </p:nvSpPr>
        <p:spPr>
          <a:xfrm>
            <a:off x="1001454" y="6139017"/>
            <a:ext cx="10996957" cy="4054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800"/>
              </a:spcAft>
              <a:buFont typeface="Wingdings" panose="05000000000000000000" charset="0"/>
              <a:buChar char="u"/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D880CD-E727-C84D-A655-96C6130961D8}"/>
              </a:ext>
            </a:extLst>
          </p:cNvPr>
          <p:cNvSpPr/>
          <p:nvPr/>
        </p:nvSpPr>
        <p:spPr>
          <a:xfrm>
            <a:off x="823654" y="1383877"/>
            <a:ext cx="5498478" cy="41624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</a:t>
            </a:r>
            <a:r>
              <a:rPr lang="en-US" altLang="zh-CN" dirty="0"/>
              <a:t>/</a:t>
            </a:r>
            <a:r>
              <a:rPr lang="zh-CN" altLang="en-US" dirty="0"/>
              <a:t>表</a:t>
            </a:r>
          </a:p>
        </p:txBody>
      </p:sp>
    </p:spTree>
    <p:extLst>
      <p:ext uri="{BB962C8B-B14F-4D97-AF65-F5344CB8AC3E}">
        <p14:creationId xmlns:p14="http://schemas.microsoft.com/office/powerpoint/2010/main" val="98275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1000"/>
    </mc:Choice>
    <mc:Fallback xmlns="">
      <p:transition advClick="0" advTm="41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结束语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04340" y="1515110"/>
            <a:ext cx="87839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36270" fontAlgn="auto">
              <a:lnSpc>
                <a:spcPct val="100000"/>
              </a:lnSpc>
              <a:spcAft>
                <a:spcPts val="800"/>
              </a:spcAft>
              <a:buNone/>
            </a:pP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软件所在</a:t>
            </a:r>
            <a:r>
              <a:rPr lang="en-US" altLang="zh-CN" sz="24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xxx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方向具有长期积累，拥有</a:t>
            </a:r>
            <a:r>
              <a:rPr lang="en-US" altLang="zh-CN" sz="24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xxx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研发及厂商应用经验，具备本课题</a:t>
            </a:r>
            <a:r>
              <a:rPr lang="en-US" altLang="zh-CN" sz="24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xxx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的研制基础。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20370" y="4025900"/>
            <a:ext cx="11350625" cy="665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3600">
                <a:latin typeface="华文中宋" panose="02010600040101010101" charset="-122"/>
                <a:ea typeface="华文中宋" panose="02010600040101010101" charset="-122"/>
              </a:rPr>
              <a:t>感谢各位评审专家！</a:t>
            </a:r>
          </a:p>
        </p:txBody>
      </p:sp>
      <p:pic>
        <p:nvPicPr>
          <p:cNvPr id="5" name="图片 4" descr="软件研究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365" y="5048250"/>
            <a:ext cx="2032000" cy="618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45000"/>
    </mc:Choice>
    <mc:Fallback xmlns="">
      <p:transition advClick="0" advTm="4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b8c28f1-32b8-4aa8-96da-43aa9b7e5b72"/>
  <p:tag name="COMMONDATA" val="eyJoZGlkIjoiNmUzMmFlN2I0ZmZmNjgzOTM0YWFiYTlkYjg4MzA0NG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1915</TotalTime>
  <Words>3485</Words>
  <Application>Microsoft Office PowerPoint</Application>
  <PresentationFormat>宽屏</PresentationFormat>
  <Paragraphs>184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DengXian</vt:lpstr>
      <vt:lpstr>DengXian Light</vt:lpstr>
      <vt:lpstr>华文中宋</vt:lpstr>
      <vt:lpstr>楷体</vt:lpstr>
      <vt:lpstr>Microsoft YaHei</vt:lpstr>
      <vt:lpstr>Arial</vt:lpstr>
      <vt:lpstr>Calibri</vt:lpstr>
      <vt:lpstr>Times New Roman</vt:lpstr>
      <vt:lpstr>Wingdings</vt:lpstr>
      <vt:lpstr>Office 主题</vt:lpstr>
      <vt:lpstr>项目题目（微软雅黑，44号）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结束语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竞舸 冯</cp:lastModifiedBy>
  <cp:revision>53</cp:revision>
  <dcterms:modified xsi:type="dcterms:W3CDTF">2026-10-20T23:02:06Z</dcterms:modified>
</cp:coreProperties>
</file>